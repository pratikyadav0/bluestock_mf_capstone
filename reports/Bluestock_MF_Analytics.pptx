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0" Type="http://schemas.openxmlformats.org/officeDocument/2006/relationships/image" Target="../media/image2.png"/><Relationship Id="rId9" Type="http://schemas.openxmlformats.org/officeDocument/2006/relationships/image" Target="../media/image53.png"/><Relationship Id="rId5" Type="http://schemas.openxmlformats.org/officeDocument/2006/relationships/image" Target="../media/image46.png"/><Relationship Id="rId6" Type="http://schemas.openxmlformats.org/officeDocument/2006/relationships/image" Target="../media/image19.png"/><Relationship Id="rId7" Type="http://schemas.openxmlformats.org/officeDocument/2006/relationships/image" Target="../media/image1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51.png"/><Relationship Id="rId6" Type="http://schemas.openxmlformats.org/officeDocument/2006/relationships/image" Target="../media/image5.png"/><Relationship Id="rId7" Type="http://schemas.openxmlformats.org/officeDocument/2006/relationships/image" Target="../media/image24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8.png"/><Relationship Id="rId5" Type="http://schemas.openxmlformats.org/officeDocument/2006/relationships/image" Target="../media/image11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38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2.png"/><Relationship Id="rId4" Type="http://schemas.openxmlformats.org/officeDocument/2006/relationships/image" Target="../media/image37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24.png"/><Relationship Id="rId7" Type="http://schemas.openxmlformats.org/officeDocument/2006/relationships/image" Target="../media/image41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11" Type="http://schemas.openxmlformats.org/officeDocument/2006/relationships/image" Target="../media/image56.png"/><Relationship Id="rId10" Type="http://schemas.openxmlformats.org/officeDocument/2006/relationships/image" Target="../media/image2.png"/><Relationship Id="rId12" Type="http://schemas.openxmlformats.org/officeDocument/2006/relationships/image" Target="../media/image10.png"/><Relationship Id="rId9" Type="http://schemas.openxmlformats.org/officeDocument/2006/relationships/image" Target="../media/image41.png"/><Relationship Id="rId5" Type="http://schemas.openxmlformats.org/officeDocument/2006/relationships/image" Target="../media/image24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luestock_project/dashboard/logo_real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5" y="320050"/>
            <a:ext cx="1029149" cy="8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02920" y="11887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Mutual Fund Analytics Platform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02920" y="214884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Bluestock Fintech Capstone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02920" y="2633472"/>
            <a:ext cx="36576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029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End-to-End Data Engineering · ETL Pipeline · Interactive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349300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87K+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3950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Rows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651760" y="349300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40+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651760" y="3950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MF Schemes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800600" y="349300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00600" y="3950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949440" y="349300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949440" y="395020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Pratik Kumar Yadav  ·  Data Analyst Intern  ·  June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411480" y="274320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11480" y="274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&amp; OBJECTIVE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11480" y="658368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Problem Are We Solving?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11480" y="1371600"/>
            <a:ext cx="3931920" cy="960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7276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1051560" y="14447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Fragmented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051560" y="1773936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MF data scattered across AMFI, AMC portals and SEBI filings with no unified view.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11480" y="2468880"/>
            <a:ext cx="3931920" cy="960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67004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1051560" y="25420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No Analytics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51560" y="2871216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Raw NAV history gives no actionable risk-adjusted metrics like Sharpe or drawdown.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11480" y="3566160"/>
            <a:ext cx="3931920" cy="960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7673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1051560" y="36393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Investor Blind Spots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51560" y="3968496"/>
            <a:ext cx="3154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Investor demographics, tier distribution and SIP continuity are largely unanalysed.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754880" y="1325880"/>
            <a:ext cx="3977640" cy="3474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46320" y="138988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2040" y="18928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5257800" y="184708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 &amp; clean 10 CSV datasets (87K+ rows) via Python ETL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2040" y="2487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5257800" y="244144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 normalised SQLite star-schema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2040" y="30815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5257800" y="303580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 CAGR, Sharpe, Sortino, Alpha, Beta, VaR &amp; CVaR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92040" y="36758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5257800" y="363016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 a 7-page interactive Streamlit + HTML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92040" y="42702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5257800" y="4224528"/>
            <a:ext cx="3337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 fund comparisons with composite scoring &amp; recommender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11480" y="6217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 Datasets · 87,000+ Rows · Jan 2022 – May 2026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11480" y="1261872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21208" y="1371600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521208" y="13716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960120" y="131673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 Master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960120" y="15819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40 real MF schemes from top AMCs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538728" y="146304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40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11480" y="1984248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21208" y="2093976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521208" y="20939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60120" y="20391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 History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60120" y="230428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Daily NAV Jan 2022 – May 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538728" y="218541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~46K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11480" y="2706624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21208" y="2816352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21208" y="28163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60120" y="276148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AUM by Fund 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60120" y="302666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Quarterly AUM for 10 fund houses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538728" y="29077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~90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411480" y="3429000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521208" y="3538728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21208" y="35387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960120" y="348386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SIP Inflows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60120" y="37490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AMFI monthly SIP data 2022-2026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3538728" y="36301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48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11480" y="4151376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521208" y="4261104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21208" y="42611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60120" y="42062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 Inflows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60120" y="447141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Net inflows by MF 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538728" y="435254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~144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846320" y="1261872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4956048" y="1371600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4956048" y="13716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394960" y="131673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Industry Folio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394960" y="15819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Folio growth milestones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973568" y="146304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21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846320" y="1984248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956048" y="2093976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956048" y="20939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394960" y="20391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Scheme 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394960" y="230428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Returns, Sharpe, Alpha, Beta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973568" y="218541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40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846320" y="2706624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956048" y="2816352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956048" y="28163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394960" y="276148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Investor Transactions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394960" y="302666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5,000 investor transaction records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973568" y="29077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~32K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846320" y="3429000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956048" y="3538728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956048" y="353872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394960" y="348386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Portfolio Holdings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394960" y="37490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equity holdings by fund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973568" y="363016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~320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846320" y="4151376"/>
            <a:ext cx="4206240" cy="640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956048" y="4261104"/>
            <a:ext cx="329184" cy="32918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956048" y="426110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394960" y="420624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Indices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394960" y="447141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Daily Nifty 50 / 100 / BSE values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7973568" y="435254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~8K rows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11480" y="62179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End-to-End Data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" y="1645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347472" y="22860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47472" y="2670048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CSVs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AMFI · mfapi.in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892808" y="2523744"/>
            <a:ext cx="201168" cy="731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2020824" y="2395728"/>
            <a:ext cx="201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6624" y="1645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2203704" y="22860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ETL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2203704" y="2670048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Ingest · Clean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749040" y="2523744"/>
            <a:ext cx="201168" cy="731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877056" y="2395728"/>
            <a:ext cx="201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856" y="1645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4059936" y="22860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 DB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059936" y="2670048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Star Schema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 Tables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605272" y="2523744"/>
            <a:ext cx="201168" cy="731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733288" y="2395728"/>
            <a:ext cx="201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9088" y="1645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5916168" y="22860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916168" y="2670048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Metrics · EDA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Advanced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461504" y="2523744"/>
            <a:ext cx="201168" cy="7315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7589520" y="2395728"/>
            <a:ext cx="2011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5320" y="164592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7772400" y="2286000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7772400" y="2670048"/>
            <a:ext cx="1508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HTML/JS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11480" y="39776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Tech Stack: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737360" y="397764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3.10+  ·  Pandas · NumPy  ·  SQLite3 · SQLAlchemy  ·  Matplotlib · Seaborn  ·  Chart.js · Streamlit  ·  SciPy (OLS)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11480" y="4343400"/>
            <a:ext cx="8321040" cy="54864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02920" y="4407408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Deliverables:  D1: ETL Script  ·  D2: SQLite DB  ·  D3: EDA Notebooks  ·  D4: Performance Metrics  ·  D5: Dashboard  ·  D6: Advanced Analytics  ·  D7: Final Report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HIGHLIGHTS · 1 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NAV Trends, AUM Growth &amp; SIP Inflows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11480" y="1170432"/>
            <a:ext cx="5349240" cy="2331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nav_trend_lines.png" id="174" name="Google Shape;1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234440"/>
            <a:ext cx="521208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/>
          <p:nvPr/>
        </p:nvSpPr>
        <p:spPr>
          <a:xfrm>
            <a:off x="5943600" y="1170432"/>
            <a:ext cx="2834640" cy="11155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aum_growth_fund_house.png" id="176" name="Google Shape;1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6752" y="1216152"/>
            <a:ext cx="269748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5943600" y="2395728"/>
            <a:ext cx="2834640" cy="11155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sip_inflow_trend.png" id="178" name="Google Shape;1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16752" y="2441448"/>
            <a:ext cx="269748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/>
          <p:nvPr/>
        </p:nvSpPr>
        <p:spPr>
          <a:xfrm>
            <a:off x="411480" y="3675888"/>
            <a:ext cx="2788920" cy="1188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72" y="38221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1005840" y="373075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22%+ CAGR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005840" y="41148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Small Cap 3-yr outperformance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37560" y="3675888"/>
            <a:ext cx="2788920" cy="1188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02152" y="38221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3931920" y="373075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₹31,002 Cr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931920" y="41148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SIP ATH – Dec 2025 (+34% YoY)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263640" y="3675888"/>
            <a:ext cx="2788920" cy="11887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8232" y="38221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6858000" y="3730752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mbria"/>
                <a:ea typeface="Cambria"/>
                <a:cs typeface="Cambria"/>
                <a:sym typeface="Cambria"/>
              </a:rPr>
              <a:t>₹12.5L Cr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858000" y="4114800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SBI MF – top AUM (Dec 2025)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 HIGHLIGHTS · 2 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Investor Behaviour, Geography &amp; Portfolio Holdings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11480" y="1170432"/>
            <a:ext cx="4206240" cy="1810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investor_age_distribution.png" id="200" name="Google Shape;2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225296"/>
            <a:ext cx="4078224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4846320" y="1170432"/>
            <a:ext cx="4206240" cy="1810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geographic_distribution.png" id="202" name="Google Shape;2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0328" y="1225296"/>
            <a:ext cx="4078224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8"/>
          <p:cNvSpPr/>
          <p:nvPr/>
        </p:nvSpPr>
        <p:spPr>
          <a:xfrm>
            <a:off x="411480" y="3090672"/>
            <a:ext cx="4206240" cy="1810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top_10_holdings.png" id="204" name="Google Shape;2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" y="3145536"/>
            <a:ext cx="4078224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4846320" y="3090672"/>
            <a:ext cx="4206240" cy="1810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sector_allocation_donut.png" id="206" name="Google Shape;20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0328" y="3145536"/>
            <a:ext cx="4078224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411480" y="4773168"/>
            <a:ext cx="2011680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411480" y="47731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35%  26-35 age group – largest investor segment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578608" y="4773168"/>
            <a:ext cx="2011680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2578608" y="47731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50%+  Maharashtra + Karnataka + Delhi transactions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745736" y="4773168"/>
            <a:ext cx="2011680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745736" y="47731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26.1 Cr  Total MF folios (Dec 2025) – doubled in 4 yrs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912864" y="4773168"/>
            <a:ext cx="2011680" cy="20116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6912864" y="477316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BFSI  Most-weighted sector across equity portfolios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METRICS · 1 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Risk-Adjusted Returns &amp; Fund Scorecard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170432"/>
            <a:ext cx="502920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5623560" y="1170432"/>
            <a:ext cx="3108960" cy="26517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risk_return_scatter.png" id="225" name="Google Shape;22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7568" y="1234440"/>
            <a:ext cx="2971800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411480" y="3977640"/>
            <a:ext cx="201168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41330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914400" y="400507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1.46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914400" y="43434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Sharpe Ratio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(Mirae Large Cap)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2578608" y="3977640"/>
            <a:ext cx="201168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15768" y="41330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3081528" y="400507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–0.10%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081528" y="43434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Lowest Drawdown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(ICICI Liq Fund)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745736" y="3977640"/>
            <a:ext cx="201168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82896" y="41330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5248656" y="400507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35.1%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5248656" y="43434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3-yr CAGR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(Axis Midcap)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912864" y="3977640"/>
            <a:ext cx="2011680" cy="91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50024" y="413308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9"/>
          <p:cNvSpPr/>
          <p:nvPr/>
        </p:nvSpPr>
        <p:spPr>
          <a:xfrm>
            <a:off x="7415784" y="4005072"/>
            <a:ext cx="1417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4B8A6"/>
                </a:solidFill>
                <a:latin typeface="Cambria"/>
                <a:ea typeface="Cambria"/>
                <a:cs typeface="Cambria"/>
                <a:sym typeface="Cambria"/>
              </a:rPr>
              <a:t>84.5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415784" y="434340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Composite Score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(ICICI Midcap)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METRICS · 2 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Rolling Sharpe, Benchmark Comparison &amp; Advanced Analytics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11480" y="1170432"/>
            <a:ext cx="5349240" cy="2103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rolling_sharpe.png" id="251" name="Google Shape;2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234440"/>
            <a:ext cx="521208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5943600" y="1170432"/>
            <a:ext cx="2834640" cy="21031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charts/benchmark_comparison.png" id="253" name="Google Shape;25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6752" y="1234440"/>
            <a:ext cx="2697480" cy="1965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480" y="3401568"/>
            <a:ext cx="8321040" cy="1463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· 1 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Interactive Analytics Platform – Overview &amp; Performance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11480" y="1170432"/>
            <a:ext cx="5257800" cy="30175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reports/dashboard_page1_overview.png"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234440"/>
            <a:ext cx="512064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/>
          <p:nvPr/>
        </p:nvSpPr>
        <p:spPr>
          <a:xfrm>
            <a:off x="475488" y="4160520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🏆 Executive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5852160" y="1170432"/>
            <a:ext cx="2880360" cy="14173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reports/dashboard_page2_performance.png" id="267" name="Google Shape;26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5312" y="1216152"/>
            <a:ext cx="274320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/>
          <p:nvPr/>
        </p:nvSpPr>
        <p:spPr>
          <a:xfrm>
            <a:off x="5852160" y="2633472"/>
            <a:ext cx="2880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⚡ Fund Performance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852160" y="2880360"/>
            <a:ext cx="2880360" cy="1353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reports/dashboard_page3_investors.png" id="270" name="Google Shape;27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5312" y="2926080"/>
            <a:ext cx="2743200" cy="1234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5852160" y="4251960"/>
            <a:ext cx="2880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👥 Investor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11480" y="4526280"/>
            <a:ext cx="2057400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" y="45811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1"/>
          <p:cNvSpPr/>
          <p:nvPr/>
        </p:nvSpPr>
        <p:spPr>
          <a:xfrm>
            <a:off x="740664" y="4553712"/>
            <a:ext cx="1664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Interactive Pages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606040" y="4526280"/>
            <a:ext cx="2057400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6" name="Google Shape;27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79192" y="45811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/>
          <p:nvPr/>
        </p:nvSpPr>
        <p:spPr>
          <a:xfrm>
            <a:off x="2935224" y="4553712"/>
            <a:ext cx="1664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Filters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800600" y="4526280"/>
            <a:ext cx="2057400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3752" y="45811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1"/>
          <p:cNvSpPr/>
          <p:nvPr/>
        </p:nvSpPr>
        <p:spPr>
          <a:xfrm>
            <a:off x="5129784" y="4553712"/>
            <a:ext cx="1664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Exportable Scorecard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995160" y="4526280"/>
            <a:ext cx="2057400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8312" y="458114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/>
          <p:nvPr/>
        </p:nvSpPr>
        <p:spPr>
          <a:xfrm>
            <a:off x="7324344" y="4553712"/>
            <a:ext cx="16642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Insights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· 2 /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SIP &amp; Market Trends · Risk Analytics · Data Quality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11480" y="1170432"/>
            <a:ext cx="2743200" cy="196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reports/dashboard_page4_trends.png"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234440"/>
            <a:ext cx="2615184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2"/>
          <p:cNvSpPr/>
          <p:nvPr/>
        </p:nvSpPr>
        <p:spPr>
          <a:xfrm>
            <a:off x="411480" y="31638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📈 SIP &amp; Market Trends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3291840" y="1170432"/>
            <a:ext cx="2743200" cy="196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reports/dashboard_page5_risk.png" id="296" name="Google Shape;29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5848" y="1234440"/>
            <a:ext cx="2615184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2"/>
          <p:cNvSpPr/>
          <p:nvPr/>
        </p:nvSpPr>
        <p:spPr>
          <a:xfrm>
            <a:off x="3291840" y="31638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🛡️ Risk &amp; Correlation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172200" y="1170432"/>
            <a:ext cx="2743200" cy="196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luestock_project/reports/dashboard_page6_quality.png" id="299" name="Google Shape;29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6208" y="1234440"/>
            <a:ext cx="2615184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6172200" y="316382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📋 Data Quality Monitor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11480" y="3547872"/>
            <a:ext cx="274320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496" y="36393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2"/>
          <p:cNvSpPr/>
          <p:nvPr/>
        </p:nvSpPr>
        <p:spPr>
          <a:xfrm>
            <a:off x="914400" y="35661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SIP vs Nifty Correlation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502920" y="3931920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Dual y-axis chart showing SIP inflow growth alongside Nifty 50 index — tracks retail participation vs market movements.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3291840" y="3547872"/>
            <a:ext cx="274320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9856" y="36393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2"/>
          <p:cNvSpPr/>
          <p:nvPr/>
        </p:nvSpPr>
        <p:spPr>
          <a:xfrm>
            <a:off x="3794760" y="35661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VaR &amp; CVaR Analytics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383280" y="3931920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95% &amp; 99% confidence Value at Risk and Conditional VaR computed per fund. Correlation heatmap across benchmark indices.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172200" y="3547872"/>
            <a:ext cx="2743200" cy="1371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32B42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0216" y="36393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6675120" y="356616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Data Quality Audit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263640" y="3931920"/>
            <a:ext cx="25603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In-app engineering panel: row counts, duplicate flags, null checks, date coverage and automated system health warnings.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411480" y="256032"/>
            <a:ext cx="1920240" cy="29260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11480" y="25603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 Insights from the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11480" y="1170432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08" y="133502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3"/>
          <p:cNvSpPr/>
          <p:nvPr/>
        </p:nvSpPr>
        <p:spPr>
          <a:xfrm>
            <a:off x="941832" y="12070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Small Cap Outperformance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41832" y="1499616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SBI &amp; Nippon Small Cap delivered 22%+ 3-yr CAGR, far ahead of Large Cap average of ~15%.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846320" y="1170432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6" name="Google Shape;32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133502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3"/>
          <p:cNvSpPr/>
          <p:nvPr/>
        </p:nvSpPr>
        <p:spPr>
          <a:xfrm>
            <a:off x="5376672" y="12070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AUM Concentration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5376672" y="1499616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Top 3 AMCs (SBI, ICICI, HDFC) control 39%+ of India's total mutual fund AUM.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11480" y="1938528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0" name="Google Shape;33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08" y="21031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3"/>
          <p:cNvSpPr/>
          <p:nvPr/>
        </p:nvSpPr>
        <p:spPr>
          <a:xfrm>
            <a:off x="941832" y="197510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SIP Milestone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41832" y="2267712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Monthly SIP hit ₹31,002 Cr ATH in Dec 2025 — 34% YoY growth, up from ₹13K Cr in 2022.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4846320" y="1938528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6048" y="21031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3"/>
          <p:cNvSpPr/>
          <p:nvPr/>
        </p:nvSpPr>
        <p:spPr>
          <a:xfrm>
            <a:off x="5376672" y="197510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Millennial-Led Investing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5376672" y="2267712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26-35 age cohort drives 35% of all transactions; older investors invest larger SIP amounts.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11480" y="2706624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1208" y="287121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3"/>
          <p:cNvSpPr/>
          <p:nvPr/>
        </p:nvSpPr>
        <p:spPr>
          <a:xfrm>
            <a:off x="941832" y="2743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Geographic Skew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941832" y="3035808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Maharashtra + Karnataka + Delhi NCR generate 50%+ of transactions; B30 cities growing faster.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846320" y="2706624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56048" y="287121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3"/>
          <p:cNvSpPr/>
          <p:nvPr/>
        </p:nvSpPr>
        <p:spPr>
          <a:xfrm>
            <a:off x="5376672" y="2743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Folio Doubling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376672" y="3035808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MF folios nearly doubled from 13.26 Cr (2022) to 26.12 Cr (Dec 2025), driven by equity SIPs.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411480" y="3474720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1208" y="36393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3"/>
          <p:cNvSpPr/>
          <p:nvPr/>
        </p:nvSpPr>
        <p:spPr>
          <a:xfrm>
            <a:off x="941832" y="3511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Diversification Signal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941832" y="3803904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Small/Mid Cap funds show 0.65-0.80 correlation to Large Caps — meaningful portfolio benefit.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4846320" y="3474720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0" name="Google Shape;350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56048" y="36393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3"/>
          <p:cNvSpPr/>
          <p:nvPr/>
        </p:nvSpPr>
        <p:spPr>
          <a:xfrm>
            <a:off x="5376672" y="35112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Sector Concentration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376672" y="3803904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BFSI tops all equity fund portfolios; some sectoral funds show HHI &gt; 2500, signalling risk.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11480" y="4242816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4" name="Google Shape;35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21208" y="44074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/>
          <p:nvPr/>
        </p:nvSpPr>
        <p:spPr>
          <a:xfrm>
            <a:off x="941832" y="42793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SIP Dominates by 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941832" y="4572000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SIPs account for ~60% of transaction count but only ~25% of total value (smaller ticket sizes).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846320" y="4242816"/>
            <a:ext cx="4206240" cy="6766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F2236"/>
          </a:solidFill>
          <a:ln>
            <a:noFill/>
          </a:ln>
          <a:effectLst>
            <a:outerShdw blurRad="101600" rotWithShape="0" algn="bl" dir="27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56048" y="44074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/>
          <p:nvPr/>
        </p:nvSpPr>
        <p:spPr>
          <a:xfrm>
            <a:off x="5376672" y="42793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Best Risk-Adjusted Fund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5376672" y="4572000"/>
            <a:ext cx="35844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Mirae Asset Large Cap leads with Sharpe 1.46 &amp; Sortino 2.41; ICICI Pru Midcap scores 84.5 composite.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luestock_project/dashboard/logo_real.png" id="366" name="Google Shape;3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0113" y="502925"/>
            <a:ext cx="1503773" cy="97839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4"/>
          <p:cNvSpPr/>
          <p:nvPr/>
        </p:nvSpPr>
        <p:spPr>
          <a:xfrm>
            <a:off x="1371600" y="123444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371600" y="2304288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Mutual Fund Analytics Platform  ·  Bluestock Fintech Capstone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3200400" y="2788920"/>
            <a:ext cx="2743200" cy="3657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4"/>
          <p:cNvSpPr/>
          <p:nvPr/>
        </p:nvSpPr>
        <p:spPr>
          <a:xfrm>
            <a:off x="1371600" y="2971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Pratik Kumar Yadav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1371600" y="3364992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 Analyst Intern  ·  Bluestock Fintech Pvt. Ltd.  ·  June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868680" y="389534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87K+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868680" y="4334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Rows Analysed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2880360" y="389534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40+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2880360" y="4334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MF Schemes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892040" y="389534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15+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892040" y="4334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Visualisations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903720" y="389534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D9488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903720" y="43342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Dashboard Pages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⚠️  For educational purposes only. Mutual Fund investments are subject to market risks.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